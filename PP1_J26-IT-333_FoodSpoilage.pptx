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6858000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274320"/>
            <a:ext cx="2743200" cy="5029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2743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IT4010 RESEARCH PROJECT  •  PP1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0058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SLIIT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EA8B2"/>
                </a:solidFill>
                <a:latin typeface="Calibri"/>
              </a:rPr>
              <a:t>Sri Lanka Institute of
Information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9456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EA8B2"/>
                </a:solidFill>
                <a:latin typeface="Calibri"/>
              </a:rPr>
              <a:t>🍎  Computer Vision
📡  IoT Sensors
🤖  Machine Learning
📊  Real-time Dashboard
🌱  Food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91440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78"/>
                </a:solidFill>
                <a:latin typeface="Calibri"/>
              </a:rPr>
              <a:t>OVERALL PROJECT: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2801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AI &amp; IoT-Based Smart Restaurant Management System
for Food Waste Prediction and Operational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0280"/>
            <a:ext cx="8229600" cy="36576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3774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Calibri"/>
              </a:rPr>
              <a:t>MY INDIVIDUAL COMPONENT (Component 3 of 4):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2491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78"/>
                </a:solidFill>
                <a:latin typeface="Calibri"/>
              </a:rPr>
              <a:t>AI-Based Multi-Modal Food Spoilage Prediction
and Quality Assessment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229600" cy="960120"/>
          </a:xfrm>
          <a:prstGeom prst="rect">
            <a:avLst/>
          </a:prstGeom>
          <a:solidFill>
            <a:srgbClr val="143859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49039"/>
            <a:ext cx="7863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Student:  [ Your IT Number ]   |   [ Your Name ]
Project ID:  J26-IT-333   |   Specialization:  [ Your Specialization ]
Supervisor:  [ Supervisor Name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800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78"/>
                </a:solidFill>
                <a:latin typeface="Calibri"/>
              </a:rPr>
              <a:t>Research Objective: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51206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0F5"/>
                </a:solidFill>
                <a:latin typeface="Calibri"/>
              </a:rPr>
              <a:t>Develop a predictive food-spoilage detection system using IoT sensor data and
computer vision with machine learning to estimate remaining shelf-life.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EA8B2"/>
                </a:solidFill>
                <a:latin typeface="Calibri"/>
              </a:rPr>
              <a:t>SLIIT | IT4010 Research Project PP1  •  J26-IT-333  •  AI &amp; IoT-Based Smart Restaurant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73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PP1 — J26-IT-333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AI-Based Multi-Modal Food Spoilage
Prediction and Quality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EA8B2"/>
                </a:solidFill>
                <a:latin typeface="Calibri"/>
              </a:rPr>
              <a:t>Specialization: [ Your Specialization Field ]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4206240"/>
            <a:ext cx="6812280" cy="502920"/>
          </a:xfrm>
          <a:prstGeom prst="rect">
            <a:avLst/>
          </a:prstGeom>
          <a:solidFill>
            <a:srgbClr val="143859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4233672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[ IT Number ]   |   [ Student Name ]   |   J26-IT-333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9445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6B35"/>
                </a:solidFill>
                <a:latin typeface="Calibri"/>
              </a:rPr>
              <a:t>Practice thoroughly to ensure that each individual component is delivered within exactly 2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638544"/>
            <a:ext cx="1188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EA8B2"/>
                </a:solidFill>
                <a:latin typeface="Calibri"/>
              </a:rPr>
              <a:t>SLIIT | IT4010 Research Project PP1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AI-Based Multi-Modal Food Spoilage Prediction &amp; Quality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PP1 — J26-IT-333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612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78"/>
                </a:solidFill>
                <a:latin typeface="Calibri"/>
              </a:rPr>
              <a:t>Individual Component Overview  •  Component 3 of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3854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EA8B2"/>
                </a:solidFill>
                <a:latin typeface="Calibri"/>
              </a:rPr>
              <a:t>SLIIT | IT4010 Research Project | AI &amp; IoT-Based Smart Restaurant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6385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EA8B2"/>
                </a:solidFill>
                <a:latin typeface="Calibri"/>
              </a:rPr>
              <a:t>Component 3 /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115568"/>
            <a:ext cx="3703320" cy="239572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115568"/>
            <a:ext cx="370332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1115568"/>
            <a:ext cx="548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152144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🔴  Research Problem &amp;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146304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5"/>
                </a:solidFill>
                <a:latin typeface="Calibri"/>
              </a:rPr>
              <a:t>Restaurants globally discard 30–40% of food inventory due to inadequate spoilage detection.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Key pain points: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Manual inspection is subjective &amp; inconsistent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No real-time multi-sensor integration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No food-category-specific shelf-life estimation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Single-modality systems miss critical spoilage cues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FFC300"/>
                </a:solidFill>
                <a:latin typeface="Calibri"/>
              </a:rPr>
              <a:t>Impact: Revenue loss, food safety risks, and increased carbon footprint from food waste.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602736"/>
            <a:ext cx="3703320" cy="242316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3602736"/>
            <a:ext cx="3703320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3602736"/>
            <a:ext cx="54864" cy="2926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3639312"/>
            <a:ext cx="3593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⚠️  Limitations of Existing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3950208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Single-modality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Vision-only or sensor-only systems — not fused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Generic models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No category-specific (fruit / vegetable / meat) profiles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Reactive, not predictive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Alert only after spoilage is visible — shelf-life not estimated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1" i="0">
                <a:solidFill>
                  <a:srgbClr val="FF6B35"/>
                </a:solidFill>
                <a:latin typeface="Calibri"/>
              </a:rPr>
              <a:t>No edge-deployable CPU-only solution for restaurants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7368" y="1115568"/>
            <a:ext cx="3840480" cy="265176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87368" y="1115568"/>
            <a:ext cx="3840480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87368" y="1115568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7096" y="1152144"/>
            <a:ext cx="3730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 Proposed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78808" y="1453896"/>
            <a:ext cx="37033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78"/>
                </a:solidFill>
                <a:latin typeface="Calibri"/>
              </a:rPr>
              <a:t>A multi-modal AI system that fuses: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🔬  Computer Vision pipeline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42-dim feature vector: color moments, biological pigment indices (NDVI, anthocyanin), texture, Hu moments, geometry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📡  IoT Sensor Integration (ESP32)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Temperature, Humidity, VOC, CO₂ — real-time chamber monitoring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🤖  ML Ensemble (Random Forest / GBM)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Species classifier, spoilage classifier, mould detector, ripeness regressor — &lt;100 ms CPU inference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0B478"/>
                </a:solidFill>
                <a:latin typeface="Calibri"/>
              </a:rPr>
              <a:t>Output: Spoilage probability, risk level, remaining shelf-life (RSL) with 90% CI, mould flag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7368" y="3858768"/>
            <a:ext cx="3840480" cy="230428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87368" y="3858768"/>
            <a:ext cx="3840480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87368" y="3858768"/>
            <a:ext cx="548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97096" y="3895344"/>
            <a:ext cx="3730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🔍  Research Gap &amp; Novelty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4197096"/>
            <a:ext cx="3703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No existing system combines: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Multi-modal fusion  (60% CV + 40% IoT)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Food-category-specific assessment profiles for fruits, vegetables, meat, fish, dairy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Biological pigment-based degradation indices (chlorophyll loss, anthocyanin shift)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Real-time RSL estimation with confidence intervals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Edge-deployable ESP32-CAM + FastAPI stack</a:t>
            </a:r>
          </a:p>
          <a:p>
            <a:pPr algn="l"/>
            <a:r>
              <a:rPr sz="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00" b="1" i="0">
                <a:solidFill>
                  <a:srgbClr val="FFC300"/>
                </a:solidFill>
                <a:latin typeface="Calibri"/>
              </a:rPr>
              <a:t>This component fills the gap by integrating CV + IoT fusion with category-specific produce encyclopaedia (47 species).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10727" y="1115568"/>
            <a:ext cx="3858768" cy="16459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10727" y="1115568"/>
            <a:ext cx="385876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0727" y="1115568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0455" y="115214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🎯  Main Objective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7" y="1481328"/>
            <a:ext cx="372160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5"/>
                </a:solidFill>
                <a:latin typeface="Calibri"/>
              </a:rPr>
              <a:t>Develop a predictive food-spoilage detection system using IoT sensor data and computer vision with machine learning to estimate remaining shelf-life in restaurant storage environments.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0727" y="2852928"/>
            <a:ext cx="3858768" cy="329184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0727" y="2852928"/>
            <a:ext cx="385876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0727" y="2852928"/>
            <a:ext cx="54864" cy="2926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0455" y="2889504"/>
            <a:ext cx="3749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📌  Sub-Objectives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02167" y="3200400"/>
            <a:ext cx="372160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1.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Build multi-modal feature extraction pipeline combining CV pigment analysis and IoT sensor telemetry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2.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Train food-category-specific ML classifiers for spoilage probability and RSL prediction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3.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Integrate ESP32-CAM capture into a React/FastAPI real-time dashboard with alert thresholds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4.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Validate RSL estimation accuracy across 47 produce species using a produce encyclopaedia knowledge 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638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A8B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AI-Based Multi-Modal Food Spoilage Prediction &amp; Quality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PP1 — J26-IT-333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" y="612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78"/>
                </a:solidFill>
                <a:latin typeface="Calibri"/>
              </a:rPr>
              <a:t>Proposed Solution, Prototype &amp; Technical Contribution  •  Component 3 of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63854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EA8B2"/>
                </a:solidFill>
                <a:latin typeface="Calibri"/>
              </a:rPr>
              <a:t>SLIIT | IT4010 Research Project | AI &amp; IoT-Based Smart Restaurant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6385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EA8B2"/>
                </a:solidFill>
                <a:latin typeface="Calibri"/>
              </a:rPr>
              <a:t>Component 3 /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1115568"/>
            <a:ext cx="11777472" cy="1600200"/>
          </a:xfrm>
          <a:prstGeom prst="rect">
            <a:avLst/>
          </a:prstGeom>
          <a:solidFill>
            <a:srgbClr val="143859"/>
          </a:solidFill>
          <a:ln w="9525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1168" y="1115568"/>
            <a:ext cx="11777472" cy="274320"/>
          </a:xfrm>
          <a:prstGeom prst="rect">
            <a:avLst/>
          </a:prstGeom>
          <a:solidFill>
            <a:srgbClr val="10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" y="11521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78"/>
                </a:solidFill>
                <a:latin typeface="Calibri"/>
              </a:rPr>
              <a:t>System Architecture &amp;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1435608"/>
            <a:ext cx="1645920" cy="1188720"/>
          </a:xfrm>
          <a:prstGeom prst="rect">
            <a:avLst/>
          </a:prstGeom>
          <a:solidFill>
            <a:srgbClr val="008BD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📸  Input
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Food image
(upload / ESP32-CAM)
+ IoT sensors
(Temp, Humidity
VOC, CO₂)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18928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7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85416" y="1435608"/>
            <a:ext cx="1645920" cy="1188720"/>
          </a:xfrm>
          <a:prstGeom prst="rect">
            <a:avLst/>
          </a:prstGeom>
          <a:solidFill>
            <a:srgbClr val="143859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1136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⚙️  Pre-
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1136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Resize 224×224
BGR→LAB/HSV
Feature extraction
42-dim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18928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7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32504" y="1435608"/>
            <a:ext cx="1645920" cy="1188720"/>
          </a:xfrm>
          <a:prstGeom prst="rect">
            <a:avLst/>
          </a:prstGeom>
          <a:solidFill>
            <a:srgbClr val="00B478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🔬  CV
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78224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Species ID
Spoilage class.
Mould detect.
Ripeness regress.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18928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7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79592" y="1435608"/>
            <a:ext cx="1645920" cy="1188720"/>
          </a:xfrm>
          <a:prstGeom prst="rect">
            <a:avLst/>
          </a:prstGeom>
          <a:solidFill>
            <a:srgbClr val="1A4A6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25312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📡  Sensor
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40% IoT weight
60% CV weight
Fused RSL
calculation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18928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78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80" y="1435608"/>
            <a:ext cx="1645920" cy="1188720"/>
          </a:xfrm>
          <a:prstGeom prst="rect">
            <a:avLst/>
          </a:prstGeom>
          <a:solidFill>
            <a:srgbClr val="2D1B5E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0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🧠  ML
Prediction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RF / GBM ensemble
&lt;100 ms CPU
Spoilage prob.
90% CI RSL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0032" y="1892808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7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73768" y="1435608"/>
            <a:ext cx="1645920" cy="1188720"/>
          </a:xfrm>
          <a:prstGeom prst="rect">
            <a:avLst/>
          </a:prstGeom>
          <a:solidFill>
            <a:srgbClr val="C00000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9488" y="14813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📊  Output
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19488" y="1783080"/>
            <a:ext cx="1554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8F0F5"/>
                </a:solidFill>
                <a:latin typeface="Calibri"/>
              </a:rPr>
              <a:t>Risk level
RSL hours
Alert / action
Recommendation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2816352"/>
            <a:ext cx="3730752" cy="1444752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1168" y="2816352"/>
            <a:ext cx="3730752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2816352"/>
            <a:ext cx="54864" cy="2926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" y="2852928"/>
            <a:ext cx="3621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📥  System Inputs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" y="3163824"/>
            <a:ext cx="3593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BD4"/>
                </a:solidFill>
                <a:latin typeface="Calibri"/>
              </a:rPr>
              <a:t>Vision: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Food image (camera upload, ESP32-CAM stream, URL)</a:t>
            </a:r>
          </a:p>
          <a:p>
            <a:pPr algn="l"/>
            <a:r>
              <a:rPr sz="900" b="1" i="0">
                <a:solidFill>
                  <a:srgbClr val="008BD4"/>
                </a:solidFill>
                <a:latin typeface="Calibri"/>
              </a:rPr>
              <a:t>Sensors: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Temperature (°C), Humidity (% RH), CO₂ (ppm), VOC (ppm) via Firebase</a:t>
            </a:r>
          </a:p>
          <a:p>
            <a:pPr algn="l"/>
            <a:r>
              <a:rPr sz="900" b="1" i="0">
                <a:solidFill>
                  <a:srgbClr val="008BD4"/>
                </a:solidFill>
                <a:latin typeface="Calibri"/>
              </a:rPr>
              <a:t>Category: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Fruits / Vegetables  •  Storage duration (inferred from metadata)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1168" y="4352544"/>
            <a:ext cx="3730752" cy="146304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168" y="4352544"/>
            <a:ext cx="3730752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4352544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" y="4389120"/>
            <a:ext cx="3621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📤  System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608" y="4700016"/>
            <a:ext cx="3593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Spoilage probability  (%)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Risk level: Low / Medium / Critical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Remaining Shelf-Life (RSL) with 90% confidence interval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Mould detection flag + defect bounding boxes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Surface &amp; colour diagnostics (pigment index values)</a:t>
            </a:r>
          </a:p>
          <a:p>
            <a:pPr algn="l"/>
            <a:r>
              <a:rPr sz="850" b="0" i="0">
                <a:solidFill>
                  <a:srgbClr val="00B478"/>
                </a:solidFill>
                <a:latin typeface="Calibri"/>
              </a:rPr>
              <a:t>Actionable storage recommendations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33087" y="2816352"/>
            <a:ext cx="3730752" cy="182880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33087" y="2816352"/>
            <a:ext cx="3730752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33087" y="2816352"/>
            <a:ext cx="548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42815" y="2852928"/>
            <a:ext cx="3621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👤  User Requirements Addressed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24527" y="3154680"/>
            <a:ext cx="35935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UR-01: Real-time food inspection via camera or image upload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UR-02: Automatic species identification without manual input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UR-03: Shelf-life estimation with confidence range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UR-04: Risk alerts (Low / Medium / Critical) for staff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UR-05: IoT sensor integration with live dashboard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UR-06: Produce encyclopaedia (47 species, 4-stage spoilage profiles)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UR-07: CPU-only deployment — no GPU required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33087" y="4736592"/>
            <a:ext cx="3730752" cy="1097280"/>
          </a:xfrm>
          <a:prstGeom prst="rect">
            <a:avLst/>
          </a:prstGeom>
          <a:solidFill>
            <a:srgbClr val="0A1422"/>
          </a:solidFill>
          <a:ln w="9525">
            <a:solidFill>
              <a:srgbClr val="9EA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24527" y="4828032"/>
            <a:ext cx="35478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EA8B2"/>
                </a:solidFill>
                <a:latin typeface="Calibri"/>
              </a:rPr>
              <a:t>[ PLACEHOLDER: Insert screenshots of working prototype here ]
• Vision Inspector UI
• Live IoT dashboard
• Spoilage report output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33087" y="5925312"/>
            <a:ext cx="3730752" cy="749808"/>
          </a:xfrm>
          <a:prstGeom prst="rect">
            <a:avLst/>
          </a:prstGeom>
          <a:solidFill>
            <a:srgbClr val="0A1422"/>
          </a:solidFill>
          <a:ln w="9525">
            <a:solidFill>
              <a:srgbClr val="9EA8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4527" y="5998464"/>
            <a:ext cx="35478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9EA8B2"/>
                </a:solidFill>
                <a:latin typeface="Calibri"/>
              </a:rPr>
              <a:t>[ PLACEHOLDER: Insert genuine user feedback / evaluation results here 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65008" y="2816352"/>
            <a:ext cx="3913632" cy="312724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65008" y="2816352"/>
            <a:ext cx="3913632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065008" y="2816352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74736" y="2852928"/>
            <a:ext cx="3803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💡  Design Excellence &amp; Novelty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56448" y="3154680"/>
            <a:ext cx="377647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1.  Multi-Modal Fusion Architecture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60% optical CV + 40% IoT sensor weighting — weighted fusion for RSL not found in existing restaurant-grade tools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2.  Biological Pigment Indices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7 degradation indices: NDVI, anthocyanin index, mould score, chlorophyll loss — go beyond simple RGB thresholds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3.  Produce Encyclopaedia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47 species with 4-stage spoilage progression, pathogen risk, storage standards — category-specific knowledge base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4.  Edge-Deployable CPU Stack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FastAPI + React + ESP32-CAM + Firebase — no GPU, no cloud AI API cost — restaurant-viable hardware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5.  RSL with Confidence Interval</a:t>
            </a:r>
          </a:p>
          <a:p>
            <a:pPr algn="l"/>
            <a:r>
              <a:rPr sz="850" b="0" i="0">
                <a:solidFill>
                  <a:srgbClr val="E8F0F5"/>
                </a:solidFill>
                <a:latin typeface="Calibri"/>
              </a:rPr>
              <a:t>Shelf-life hours output with 90% CI — actionable, not just a binary 'fresh/spoiled' flag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04320" y="6638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A8B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097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AI &amp; IoT-Based Smart Restaurant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12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35"/>
                </a:solidFill>
                <a:latin typeface="Calibri"/>
              </a:rPr>
              <a:t>Commercialization &amp; Sustainability  •  Overall Project (J26-IT-333 — All 4 Components)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731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PP1 — J26-IT-333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051560"/>
            <a:ext cx="2907792" cy="4572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" y="108813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Component 1
Menu Optimisation &amp; Demand Forecasting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051560"/>
            <a:ext cx="2907792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08813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Component 2
Smart Ordering &amp; Supplier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051560"/>
            <a:ext cx="2907792" cy="457200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08813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Component 3 ← THIS
Food Spoilage Prediction &amp; Quality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61704" y="1051560"/>
            <a:ext cx="2907792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088136"/>
            <a:ext cx="2816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Calibri"/>
              </a:rPr>
              <a:t>Component 4
Customer Behaviour &amp; Waste 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1627632"/>
            <a:ext cx="3767328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" y="162763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" y="1627632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" y="1664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👤  Customer 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1965960"/>
            <a:ext cx="363016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Primary: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Restaurant owners &amp; kitchen managers (mid-to-large scale, 50–500 covers/day)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Pain points: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High food-cost wastage (~15–20% of revenue), manual spoilage checks, no predictive alerts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Secondary: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Hotel chains, hospital kitchens, airline catering, cloud kitchens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Goal: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Reduce ingredient waste, pass hygiene audits, improve COGS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4279392"/>
            <a:ext cx="3767328" cy="237744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" y="427939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1168" y="4279392"/>
            <a:ext cx="548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⭐  What Makes This Unique?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" y="4617720"/>
            <a:ext cx="36301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End-to-end integration of 4 AI sub-systems on a single platform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Multi-modal food spoilage: CV + IoT fusion (not available in competitors)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Produce encyclopaedia with 47 species, 4-stage spoilage profiles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Edge-deployable — no GPU, no expensive API subscriptions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Category-specific shelf-life estimation with confidence interval</a:t>
            </a:r>
          </a:p>
          <a:p>
            <a:pPr algn="l"/>
            <a:r>
              <a:rPr sz="900" b="0" i="0">
                <a:solidFill>
                  <a:srgbClr val="00B478"/>
                </a:solidFill>
                <a:latin typeface="Calibri"/>
              </a:rPr>
              <a:t>Restaurant-tailored — not a generic food-safety application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1627632"/>
            <a:ext cx="3767328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162763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60520" y="1627632"/>
            <a:ext cx="54864" cy="292608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0248" y="1664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📈  Market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1965960"/>
            <a:ext cx="363016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Global Food Waste Management Market</a:t>
            </a:r>
          </a:p>
          <a:p>
            <a:pPr algn="l"/>
            <a:r>
              <a:rPr sz="900" b="0" i="0">
                <a:solidFill>
                  <a:srgbClr val="FFA000"/>
                </a:solidFill>
                <a:latin typeface="Calibri"/>
              </a:rPr>
              <a:t>[ PLACEHOLDER: Insert verified market size figure from a cited source ]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Restaurant Technology Market</a:t>
            </a:r>
          </a:p>
          <a:p>
            <a:pPr algn="l"/>
            <a:r>
              <a:rPr sz="900" b="0" i="0">
                <a:solidFill>
                  <a:srgbClr val="FFA000"/>
                </a:solidFill>
                <a:latin typeface="Calibri"/>
              </a:rPr>
              <a:t>[ PLACEHOLDER: Insert verified restaurant tech market figure ]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8BD4"/>
                </a:solidFill>
                <a:latin typeface="Calibri"/>
              </a:rPr>
              <a:t>Target Segment — Sri Lanka:</a:t>
            </a:r>
          </a:p>
          <a:p>
            <a:pPr algn="l"/>
            <a:r>
              <a:rPr sz="900" b="0" i="0">
                <a:solidFill>
                  <a:srgbClr val="FFA000"/>
                </a:solidFill>
                <a:latin typeface="Calibri"/>
              </a:rPr>
              <a:t>[ PLACEHOLDER: Insert local restaurant/hospitality industry data ]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750" b="1" i="0">
                <a:solidFill>
                  <a:srgbClr val="9EA8B2"/>
                </a:solidFill>
                <a:latin typeface="Calibri"/>
              </a:rPr>
              <a:t>Note: Market figures above are placeholders. Cite authoritative sources (Statista, WHO, USDA) before presenting.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4279392"/>
            <a:ext cx="3767328" cy="237744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427939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4279392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💼  Commercialization Strategy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617720"/>
            <a:ext cx="36301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SaaS / Subscription Model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Monthly/annual licence per outlet — dashboard + API access + analytics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Hardware Bundle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ESP32-CAM sensor kit + cloud onboarding service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Enterprise / API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White-label API for POS / ERP vendors (hotel chains, cloud kitchens)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850" b="0" i="0">
                <a:solidFill>
                  <a:srgbClr val="FFA000"/>
                </a:solidFill>
                <a:latin typeface="Calibri"/>
              </a:rPr>
              <a:t>[ PLACEHOLDER: Insert pricing tiers when finalised 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9872" y="1627632"/>
            <a:ext cx="3767328" cy="256032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9872" y="162763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9872" y="1627632"/>
            <a:ext cx="54864" cy="292608"/>
          </a:xfrm>
          <a:prstGeom prst="rect">
            <a:avLst/>
          </a:prstGeom>
          <a:solidFill>
            <a:srgbClr val="00B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6642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🌱  Sustainability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1965960"/>
            <a:ext cx="363016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Environmental: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Reduces landfill food waste → lower GHG emissions from decomposing organics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ESP32-based IoT — ultra-low-power edge hardware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Economic: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Reduces ingredient procurement cost for restaurants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CPU-only ML — no expensive GPU infrastructure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00B478"/>
                </a:solidFill>
                <a:latin typeface="Calibri"/>
              </a:rPr>
              <a:t>Social: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Improved food safety → reduced consumer illness risk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Potential surplus redistribution partnerships (NGOs, food banks)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19872" y="4279392"/>
            <a:ext cx="3767328" cy="2377440"/>
          </a:xfrm>
          <a:prstGeom prst="rect">
            <a:avLst/>
          </a:prstGeom>
          <a:solidFill>
            <a:srgbClr val="0D1B2A"/>
          </a:solidFill>
          <a:ln w="6350">
            <a:solidFill>
              <a:srgbClr val="00B4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19872" y="4279392"/>
            <a:ext cx="3767328" cy="292608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19872" y="4279392"/>
            <a:ext cx="54864" cy="2926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31596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💰  Cost Recovery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4617720"/>
            <a:ext cx="36301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Direct Revenue: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Subscription fees, hardware kit sales, enterprise API licences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Indirect Value:</a:t>
            </a:r>
          </a:p>
          <a:p>
            <a:pPr algn="l"/>
            <a:r>
              <a:rPr sz="900" b="0" i="0">
                <a:solidFill>
                  <a:srgbClr val="E8F0F5"/>
                </a:solidFill>
                <a:latin typeface="Calibri"/>
              </a:rPr>
              <a:t>Restaurants recover R&amp;D investment through reduced food waste (estimated 10–25% waste reduction)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50" b="1" i="0">
                <a:solidFill>
                  <a:srgbClr val="FF6B35"/>
                </a:solidFill>
                <a:latin typeface="Calibri"/>
              </a:rPr>
              <a:t>Research Grants / SLIIT Commercialisation:</a:t>
            </a:r>
          </a:p>
          <a:p>
            <a:pPr algn="l"/>
            <a:r>
              <a:rPr sz="900" b="0" i="0">
                <a:solidFill>
                  <a:srgbClr val="FFA000"/>
                </a:solidFill>
                <a:latin typeface="Calibri"/>
              </a:rPr>
              <a:t>[ PLACEHOLDER: Insert applicable grants / IP commercialisation path ]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850" b="0" i="0">
                <a:solidFill>
                  <a:srgbClr val="9EA8B2"/>
                </a:solidFill>
                <a:latin typeface="Calibri"/>
              </a:rPr>
              <a:t>Break-even: [ PLACEHOLDER — do not estimate without data ]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3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" y="6638544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EA8B2"/>
                </a:solidFill>
                <a:latin typeface="Calibri"/>
              </a:rPr>
              <a:t>SLIIT | IT4010 Research Project | AI &amp; IoT-Based Smart Restaurant Management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63854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9EA8B2"/>
                </a:solidFill>
                <a:latin typeface="Calibri"/>
              </a:rPr>
              <a:t>Overall Project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0" y="663854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EA8B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